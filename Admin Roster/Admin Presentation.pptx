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5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2000" cy="76200"/>
          </a:xfrm>
          <a:prstGeom prst="rect">
            <a:avLst/>
          </a:prstGeom>
          <a:solidFill>
            <a:srgbClr val="EA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450000"/>
            <a:ext cx="12192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EA338A"/>
                </a:solidFill>
                <a:latin typeface="Calibri"/>
              </a:rPr>
              <a:t>ELITE ARROWS</a:t>
            </a:r>
          </a:p>
          <a:p>
            <a:pPr algn="ctr"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ADMIN MEETING DECK</a:t>
            </a:r>
          </a:p>
          <a:p>
            <a:pPr algn="ctr">
              <a:spcAft>
                <a:spcPts val="0"/>
              </a:spcAft>
            </a:pPr>
            <a:r>
              <a:rPr sz="1700" b="0" i="1">
                <a:solidFill>
                  <a:srgbClr val="B0B0C0"/>
                </a:solidFill>
                <a:latin typeface="Calibri"/>
              </a:rPr>
              <a:t>Season 6  -  League Review, Rules, Ideas &amp;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700000"/>
            <a:ext cx="121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8C8C99"/>
                </a:solidFill>
                <a:latin typeface="Calibri"/>
              </a:rPr>
              <a:t>Prepared for the Elite Arrows admin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638" y="3556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dirty="0">
                <a:solidFill>
                  <a:srgbClr val="EA338A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14141F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EA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050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EA338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050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14141F"/>
                </a:solidFill>
                <a:latin typeface="Calibri"/>
              </a:rPr>
              <a:t>What's going well this season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19050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EA338A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35800" y="19050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14141F"/>
                </a:solidFill>
                <a:latin typeface="Calibri"/>
              </a:rPr>
              <a:t>Formats, divisions &amp; the Pro League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24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EA338A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924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14141F"/>
                </a:solidFill>
                <a:latin typeface="Calibri"/>
              </a:rPr>
              <a:t>Fixtures, results &amp;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0" y="26924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A338A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5800" y="26924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Discipline, respect &amp; conduct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98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EA338A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798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Player of the Month &amp; awards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34798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A338A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5800" y="34798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Suggestion Box &amp; the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672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A338A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672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Prize pot &amp; the Elite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42672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A338A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5800" y="42672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Tournaments &amp; cups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546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A338A"/>
                </a:solidFill>
                <a:latin typeface="Calibri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546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Recruitment &amp; the 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0" y="50546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A338A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5800" y="50546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App &amp; tech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420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A338A"/>
                </a:solidFill>
                <a:latin typeface="Calibr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8420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Funding &amp; sustainability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0" y="58420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A338A"/>
                </a:solidFill>
                <a:latin typeface="Calibr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5800" y="58420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141F"/>
                </a:solidFill>
                <a:latin typeface="Calibri"/>
              </a:rPr>
              <a:t>Rules to debate &amp; open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024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EA338A"/>
                </a:solidFill>
                <a:latin typeface="Calibri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65024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14141F"/>
                </a:solidFill>
                <a:latin typeface="Calibri"/>
              </a:rPr>
              <a:t>New ideas &amp; future improvements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0" y="65024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EA338A"/>
                </a:solidFill>
                <a:latin typeface="Calibr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5800" y="6502400"/>
            <a:ext cx="469900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14141F"/>
                </a:solidFill>
                <a:latin typeface="Calibri"/>
              </a:rPr>
              <a:t>Decisions needed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39E84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What's Going 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23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415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Faster app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?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 - smoother tables, stats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5425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New division formats (Pro / Elite / Emerald / Diamond / Platinum)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66065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Admin roster </a:t>
            </a:r>
            <a:r>
              <a:rPr sz="1600" b="1" i="0" dirty="0" err="1">
                <a:solidFill>
                  <a:srgbClr val="14141F"/>
                </a:solidFill>
                <a:latin typeface="Calibri"/>
              </a:rPr>
              <a:t>formalised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 with clear role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063875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Clear warning / strike / season-ban discipline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184819"/>
            <a:ext cx="10896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239E84"/>
                </a:solidFill>
                <a:latin typeface="Calibri"/>
              </a:rPr>
              <a:t>Q:  Any</a:t>
            </a:r>
            <a:r>
              <a:rPr lang="en-GB" sz="1600" b="0" i="1" dirty="0">
                <a:solidFill>
                  <a:srgbClr val="239E84"/>
                </a:solidFill>
                <a:latin typeface="Calibri"/>
              </a:rPr>
              <a:t> more things to add?</a:t>
            </a:r>
            <a:endParaRPr sz="1600" b="0" i="1" dirty="0">
              <a:solidFill>
                <a:srgbClr val="239E84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EEC3C1-E29A-105E-25EC-865052E2C323}"/>
              </a:ext>
            </a:extLst>
          </p:cNvPr>
          <p:cNvSpPr txBox="1"/>
          <p:nvPr/>
        </p:nvSpPr>
        <p:spPr>
          <a:xfrm>
            <a:off x="571500" y="377825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600" b="0" i="1" dirty="0">
                <a:solidFill>
                  <a:srgbClr val="239E84"/>
                </a:solidFill>
                <a:latin typeface="Calibri"/>
              </a:rPr>
              <a:t>Q:  Anything here to keep, stop, or change?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EA338A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Formats &amp; The Pro League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EA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955800"/>
            <a:ext cx="11125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F"/>
                </a:solidFill>
                <a:latin typeface="Calibri"/>
              </a:rPr>
              <a:t>FORMATS (SEASON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876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Pro League - Best of 15 (First to 8, no draws)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686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Elite - Best of 12 (First to 7, or 6-6)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496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Emerald - Best of 10 (First to 6, or 5-5)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306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Diamond &amp; Platinum - Best of 8 (First to 5, or 4-4)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116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501 SIDO, </a:t>
            </a:r>
            <a:r>
              <a:rPr sz="1600" b="1" i="0" dirty="0" err="1">
                <a:solidFill>
                  <a:srgbClr val="14141F"/>
                </a:solidFill>
                <a:latin typeface="Calibri"/>
              </a:rPr>
              <a:t>DartCounter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, camera on, timer at 60s+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, bull up 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4343400"/>
            <a:ext cx="11125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F"/>
                </a:solidFill>
                <a:latin typeface="Calibri"/>
              </a:rPr>
              <a:t>PRO LEAGUE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7752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Top 6 from Elite </a:t>
            </a:r>
            <a:r>
              <a:rPr lang="en-GB" sz="1600" b="1" dirty="0">
                <a:solidFill>
                  <a:srgbClr val="14141F"/>
                </a:solidFill>
                <a:latin typeface="Calibri"/>
              </a:rPr>
              <a:t>this season,  then top 3 from elite next season promote, bottom 3 in pro league relegated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51562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EA338A"/>
                </a:solidFill>
                <a:latin typeface="Calibri"/>
              </a:rPr>
              <a:t>Q:  Keep draws in lower divisions, or go no-draws like Pro?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537200"/>
            <a:ext cx="10896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EA338A"/>
                </a:solidFill>
                <a:latin typeface="Calibri"/>
              </a:rPr>
              <a:t>Q:  Pro League size - stay at 6? Expand </a:t>
            </a:r>
            <a:r>
              <a:rPr lang="en-GB" sz="1600" i="1" dirty="0">
                <a:solidFill>
                  <a:srgbClr val="EA338A"/>
                </a:solidFill>
                <a:latin typeface="Calibri"/>
              </a:rPr>
              <a:t>next season?</a:t>
            </a:r>
            <a:endParaRPr sz="1600" b="0" i="1" dirty="0">
              <a:solidFill>
                <a:srgbClr val="EA338A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59182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EA338A"/>
                </a:solidFill>
                <a:latin typeface="Calibri"/>
              </a:rPr>
              <a:t>Q:  Is Best of 15 the right length, or too long / too short?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085DE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Divisions &amp; Movement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308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82750"/>
            <a:ext cx="1104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Pro League filled by top 6 from Elite (manual assignment)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 – everyone move up 6 from very bottom, or try and fill in as much as we can with new players?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2231737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Transfers and moves handled (Simon - Registration &amp; Eligibility)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224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3085DE"/>
                </a:solidFill>
                <a:latin typeface="Calibri"/>
              </a:rPr>
              <a:t>Q:  How do we replace players who leave mid-season (waiting list)?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05777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3085DE"/>
                </a:solidFill>
                <a:latin typeface="Calibri"/>
              </a:rPr>
              <a:t>Q:  Target number of players per division?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C9400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Fixtures &amp; Scheduling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CC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955800"/>
            <a:ext cx="11125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F"/>
                </a:solidFill>
                <a:latin typeface="Calibri"/>
              </a:rPr>
              <a:t>CURRENT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876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Minimum 2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-3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 fixtures per week:  </a:t>
            </a:r>
            <a:r>
              <a:rPr lang="en-GB" sz="1600" b="1" dirty="0">
                <a:solidFill>
                  <a:srgbClr val="14141F"/>
                </a:solidFill>
                <a:latin typeface="Calibri"/>
              </a:rPr>
              <a:t>3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 weekend games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 depending on number of players in each </a:t>
            </a:r>
            <a:r>
              <a:rPr lang="en-GB" sz="1600" b="1" i="0" dirty="0" err="1">
                <a:solidFill>
                  <a:srgbClr val="14141F"/>
                </a:solidFill>
                <a:latin typeface="Calibri"/>
              </a:rPr>
              <a:t>diviso</a:t>
            </a:r>
            <a:r>
              <a:rPr lang="en-GB" sz="1600" b="1" dirty="0" err="1">
                <a:solidFill>
                  <a:srgbClr val="14141F"/>
                </a:solidFill>
                <a:latin typeface="Calibri"/>
              </a:rPr>
              <a:t>n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27686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No single fixture publisher - scheduling happens in division 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496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Non-responsive opponents: 3 tags = captain informed; 24h notice before removal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?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35306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15-minute no-show rule and 1 hour notice if running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116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CC9400"/>
                </a:solidFill>
                <a:latin typeface="Calibri"/>
              </a:rPr>
              <a:t>Q:  Who tracks fixture frequency each week - captains or an app tool?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895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CC9400"/>
                </a:solidFill>
                <a:latin typeface="Calibri"/>
              </a:rPr>
              <a:t>Q:  Do we need a weekly deadline day (e.g. all results by Sunday)?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B8AB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Results &amp; Confirmation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14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Winner submits the result within 4 hours of finishing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Every admin can confirm / approve results (shared duty)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Result submission auto-checks the correct division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48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Forfeits: 3 points to the non-offending winner, 0 legs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4290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4141F"/>
                </a:solidFill>
                <a:latin typeface="Calibri"/>
              </a:rPr>
              <a:t>   Previously played matches and stats stay preserved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14B8AB"/>
                </a:solidFill>
                <a:latin typeface="Calibri"/>
              </a:rPr>
              <a:t>Q:  Is the 4-hour window right, or should it be end of 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91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14B8AB"/>
                </a:solidFill>
                <a:latin typeface="Calibri"/>
              </a:rPr>
              <a:t>Q:  Any-admin approval, or a dedicated results reviewer queue?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572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14B8AB"/>
                </a:solidFill>
                <a:latin typeface="Calibri"/>
              </a:rPr>
              <a:t>Q:  Conflicting submissions (both players claim the win)?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42942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Discipline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D4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2 warnings = 1 strike; 1 strike = immediate removal + season 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Missing the weekly 2</a:t>
            </a:r>
            <a:r>
              <a:rPr lang="en-GB" sz="1600" b="1" dirty="0">
                <a:solidFill>
                  <a:srgbClr val="14141F"/>
                </a:solidFill>
                <a:latin typeface="Calibri"/>
              </a:rPr>
              <a:t> or 3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-fixture target without reason =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Major offences: instant removal, no warning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480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No second chances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 when at 1 strike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 - permanent community ban until </a:t>
            </a:r>
            <a:r>
              <a:rPr sz="1600" b="1" i="0" dirty="0" err="1">
                <a:solidFill>
                  <a:srgbClr val="14141F"/>
                </a:solidFill>
                <a:latin typeface="Calibri"/>
              </a:rPr>
              <a:t>behaviour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 is proven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, how is this done?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3429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Warnings/strikes tracked in the Admin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D42942"/>
                </a:solidFill>
                <a:latin typeface="Calibri"/>
              </a:rPr>
              <a:t>Q:  Are the warning and strike thresholds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91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D42942"/>
                </a:solidFill>
                <a:latin typeface="Calibri"/>
              </a:rPr>
              <a:t>Q:  Who can issue a warning - any admin, or captains and above?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572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D42942"/>
                </a:solidFill>
                <a:latin typeface="Calibri"/>
              </a:rPr>
              <a:t>Q:  Should warnings expire, or carry into next season?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EA338A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Respect &amp; Conduct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EA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Respect &amp; Conduct page is live (League area of the app)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 – does this need adjustments?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Respect for members and admins at all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Banter is welcome while both sides laugh - stop on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48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Zero tolerance: racism, discrimination, harassment, abuse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29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Reporting: private message to captains/admins, screenshots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100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4141F"/>
                </a:solidFill>
                <a:latin typeface="Calibri"/>
              </a:rPr>
              <a:t>   Suggestion Box doubles as a reporting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91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EA338A"/>
                </a:solidFill>
                <a:latin typeface="Calibri"/>
              </a:rPr>
              <a:t>Q:  Do we need a named complaints moderator?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572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EA338A"/>
                </a:solidFill>
                <a:latin typeface="Calibri"/>
              </a:rPr>
              <a:t>Q:  How do we handle banned players publicly?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953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EA338A"/>
                </a:solidFill>
                <a:latin typeface="Calibri"/>
              </a:rPr>
              <a:t>Q:  Do conduct rules apply to streams and Discord too?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C9400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Player of the Month &amp; Awards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CC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Voting is fixed and open to all members (one vote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Player of the Month lives under Compete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Hall of Fame and full statistics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48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CC9400"/>
                </a:solidFill>
                <a:latin typeface="Calibri"/>
              </a:rPr>
              <a:t>Q:  What counts for nomination: wins, averages, 180s, sportsmanship?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CC9400"/>
                </a:solidFill>
                <a:latin typeface="Calibri"/>
              </a:rPr>
              <a:t>Q:  Should nominees need a minimum number of played fixtures?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CC9400"/>
                </a:solidFill>
                <a:latin typeface="Calibri"/>
              </a:rPr>
              <a:t>Q:  More awards: Most Improved, Best Checkout, Top 180s, Best Newcomer?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FA80DB-DFC4-9589-1CEA-E1B7971C7C00}"/>
              </a:ext>
            </a:extLst>
          </p:cNvPr>
          <p:cNvSpPr txBox="1"/>
          <p:nvPr/>
        </p:nvSpPr>
        <p:spPr>
          <a:xfrm>
            <a:off x="762000" y="4133850"/>
            <a:ext cx="10896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CC9400"/>
                </a:solidFill>
                <a:latin typeface="Calibri"/>
              </a:rPr>
              <a:t>Q:  </a:t>
            </a:r>
            <a:r>
              <a:rPr lang="en-GB" sz="1600" i="1" dirty="0">
                <a:solidFill>
                  <a:srgbClr val="CC9400"/>
                </a:solidFill>
                <a:latin typeface="Calibri"/>
              </a:rPr>
              <a:t>Any rewards: what is given to the player of the month for each division? </a:t>
            </a:r>
            <a:endParaRPr sz="1600" b="0" i="1" dirty="0">
              <a:solidFill>
                <a:srgbClr val="CC94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39E84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Suggestion Box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23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Suggestion Box works again - members vote on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Top-voted ideas should shape the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Admins review ideas and turn decisions into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48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39E84"/>
                </a:solidFill>
                <a:latin typeface="Calibri"/>
              </a:rPr>
              <a:t>Q:  How regularly do we review suggestions as a group?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39E84"/>
                </a:solidFill>
                <a:latin typeface="Calibri"/>
              </a:rPr>
              <a:t>Q:  Do we respond to every idea, or close with comments?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39E84"/>
                </a:solidFill>
                <a:latin typeface="Calibri"/>
              </a:rPr>
              <a:t>Q:  When an idea is adopted, do we announce it in news?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F54DE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Prize Pot &amp; Eligibility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8F5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League winner (top 1) of each division wins a share of the 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Minimum 75% of fixtures completed to be prize-eligible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, maybe 100%? Makes this then fair on everyone!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Pot funded by Elite Pass and donations, announced end of season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48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8F54DE"/>
                </a:solidFill>
                <a:latin typeface="Calibri"/>
              </a:rPr>
              <a:t>Q:  Split for top 1 only, or include second place?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8F54DE"/>
                </a:solidFill>
                <a:latin typeface="Calibri"/>
              </a:rPr>
              <a:t>Q:  Should stream and YouTube revenue feed the pot?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8F54DE"/>
                </a:solidFill>
                <a:latin typeface="Calibri"/>
              </a:rPr>
              <a:t>Q:  Payout timing and method - bank, PayPal, vouchers?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994D1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Elite Pass &amp; Perks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29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Paid subscription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14-day refund policy, processed manually via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67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994D1"/>
                </a:solidFill>
                <a:latin typeface="Calibri"/>
              </a:rPr>
              <a:t>Q:  Is the current perk list right for Season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48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994D1"/>
                </a:solidFill>
                <a:latin typeface="Calibri"/>
              </a:rPr>
              <a:t>Q:  Pricing review - too high, too low, or about right?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994D1"/>
                </a:solidFill>
                <a:latin typeface="Calibri"/>
              </a:rPr>
              <a:t>Q:  Should any paid features rotate back to free?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42942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Tournaments &amp; Cups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D4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Lyndsey - Tournament Director; Jay - Advisor; Rhys - Commissioner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Cup brackets, live draws and per-tournament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Disputes: day-to-day to Director; major cases to Commissioner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48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D42942"/>
                </a:solidFill>
                <a:latin typeface="Calibri"/>
              </a:rPr>
              <a:t>Q:  Should cup draws be streamed or recorded?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D42942"/>
                </a:solidFill>
                <a:latin typeface="Calibri"/>
              </a:rPr>
              <a:t>Q:  Seeding based on stats and previous cup results?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D42942"/>
                </a:solidFill>
                <a:latin typeface="Calibri"/>
              </a:rPr>
              <a:t>Q:  One big cup, or more frequent smaller tournaments?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91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D42942"/>
                </a:solidFill>
                <a:latin typeface="Calibri"/>
              </a:rPr>
              <a:t>Q:  Same camera rules for cups as league matches?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39E84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Recruitment &amp;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23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New role: Recruitment Officer (Simon) - find, welcome, onboard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Waiting lists and division transfers managed centrally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Onboarding checklist in the app for new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48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39E84"/>
                </a:solidFill>
                <a:latin typeface="Calibri"/>
              </a:rPr>
              <a:t>Q:  Target size per division - and how much spare capacity?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39E84"/>
                </a:solidFill>
                <a:latin typeface="Calibri"/>
              </a:rPr>
              <a:t>Q:  Recruit via socials, Discord and word of mouth?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239E84"/>
                </a:solidFill>
                <a:latin typeface="Calibri"/>
              </a:rPr>
              <a:t>Q:  Buddy system so new players finish their first season?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dirty="0">
                <a:solidFill>
                  <a:srgbClr val="3085DE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14141F"/>
                </a:solidFill>
                <a:latin typeface="Calibri"/>
              </a:rPr>
              <a:t>Community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308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8915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WhatsApp remains the primary community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654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 err="1">
                <a:solidFill>
                  <a:srgbClr val="14141F"/>
                </a:solidFill>
                <a:latin typeface="Calibri"/>
              </a:rPr>
              <a:t>Kinchy</a:t>
            </a:r>
            <a:r>
              <a:rPr sz="1600" b="1" i="0" dirty="0">
                <a:solidFill>
                  <a:srgbClr val="14141F"/>
                </a:solidFill>
                <a:latin typeface="Calibri"/>
              </a:rPr>
              <a:t> monitors WhatsApp as Community Moderator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 – maybe he does the league news every week or 2?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048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Respect and conduct apply across every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3085DE"/>
                </a:solidFill>
                <a:latin typeface="Calibri"/>
              </a:rPr>
              <a:t>Q:  Public announcement server, or keep relay-only?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3085DE"/>
                </a:solidFill>
                <a:latin typeface="Calibri"/>
              </a:rPr>
              <a:t>Q:  Moderation rota, or on-call admins?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910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3085DE"/>
                </a:solidFill>
                <a:latin typeface="Calibri"/>
              </a:rPr>
              <a:t>Q:  Who posts highlights - Jay via Streaming &amp; Media?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B8AB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App &amp; Tech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14B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955800"/>
            <a:ext cx="11125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F"/>
                </a:solidFill>
                <a:latin typeface="Calibri"/>
              </a:rPr>
              <a:t>IN PLACE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876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Standings, submit results, stats, admin panel,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686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Onboarding, rewards, player profiles, hall of fame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200400"/>
            <a:ext cx="11125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F"/>
                </a:solidFill>
                <a:latin typeface="Calibri"/>
              </a:rPr>
              <a:t>FUTURE IDEAS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322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Auto-scheduler and a weekly fixture compliance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0132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Live match alerts and better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3942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Deductions manager, payout tracking, H2H head-to-head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7752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More stats automation to lighten admin workload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1562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14B8AB"/>
                </a:solidFill>
                <a:latin typeface="Calibri"/>
              </a:rPr>
              <a:t>Q:  What is the priority order for the next build?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7A97E9-8C85-C8A8-4162-1F6F85C74BEB}"/>
              </a:ext>
            </a:extLst>
          </p:cNvPr>
          <p:cNvSpPr txBox="1"/>
          <p:nvPr/>
        </p:nvSpPr>
        <p:spPr>
          <a:xfrm>
            <a:off x="762000" y="5537200"/>
            <a:ext cx="10896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14B8AB"/>
                </a:solidFill>
                <a:latin typeface="Calibri"/>
              </a:rPr>
              <a:t>Q:  Wha</a:t>
            </a:r>
            <a:r>
              <a:rPr lang="en-GB" sz="1600" b="0" i="1" dirty="0">
                <a:solidFill>
                  <a:srgbClr val="14B8AB"/>
                </a:solidFill>
                <a:latin typeface="Calibri"/>
              </a:rPr>
              <a:t>t are your ideas?</a:t>
            </a:r>
            <a:endParaRPr sz="1600" b="0" i="1" dirty="0">
              <a:solidFill>
                <a:srgbClr val="14B8A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C9400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Funding &amp; Sustainability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CC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241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Donations page already in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0773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Potential: charity events, sponsors, streams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, cash tournaments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25755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CC9400"/>
                </a:solidFill>
                <a:latin typeface="Calibri"/>
              </a:rPr>
              <a:t>Q:  Introduce a flat per-season admin fund?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4223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CC9400"/>
                </a:solidFill>
                <a:latin typeface="Calibri"/>
              </a:rPr>
              <a:t>Q:  Publish season income and expenses to the admin team?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242AD-F480-A33F-5D2C-3BB06061B890}"/>
              </a:ext>
            </a:extLst>
          </p:cNvPr>
          <p:cNvSpPr txBox="1"/>
          <p:nvPr/>
        </p:nvSpPr>
        <p:spPr>
          <a:xfrm>
            <a:off x="685800" y="190943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Prize Pool - is estimated to be 75% of whole prize pool, 25% towards admins, donations? OR keep the same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EA338A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Rules To Debate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EA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Draws in all divisions vs no draws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BO15 length for Pro League next season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The 4-hour result submission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48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A weekly deadline day (all game by Sunday)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798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Forfeit / 3-point rule edge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8608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Camera violation handling - pause and warn?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28625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Minimum fixtures for titles - is 75% still fair?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A66E30-8FD2-6EA5-C076-165705A4FB0C}"/>
              </a:ext>
            </a:extLst>
          </p:cNvPr>
          <p:cNvSpPr txBox="1"/>
          <p:nvPr/>
        </p:nvSpPr>
        <p:spPr>
          <a:xfrm>
            <a:off x="609600" y="4764673"/>
            <a:ext cx="10896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CE5AB0"/>
                </a:solidFill>
                <a:latin typeface="Calibri"/>
              </a:rPr>
              <a:t>Q:</a:t>
            </a:r>
            <a:r>
              <a:rPr lang="en-GB" sz="1600" b="0" i="1" dirty="0">
                <a:solidFill>
                  <a:srgbClr val="CE5AB0"/>
                </a:solidFill>
                <a:latin typeface="Calibri"/>
              </a:rPr>
              <a:t> Any other things to debate on?</a:t>
            </a:r>
            <a:endParaRPr sz="1600" b="0" i="1" dirty="0">
              <a:solidFill>
                <a:srgbClr val="CE5AB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F54DE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New Ideas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8F5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Player of the Season and MVP awards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Most Improved and Best Newcomer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In-app news for every admin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48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Weekly division summaries posted to 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29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Season highlight videos (Jay - media)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810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Live badge and streak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191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Head-to-head (H2H) stat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610100"/>
            <a:ext cx="1089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8F54DE"/>
                </a:solidFill>
                <a:latin typeface="Calibri"/>
              </a:rPr>
              <a:t>Q:  Add your own ideas here - this is the brainstorm space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42942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Future Improvements (6-12 Months)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D4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Formal promotion and relegation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Auto-scheduler with fixture compliance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Expanded stats: season averages, form guide, best checkouts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, 180s no.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3109496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Onboarding refresh including new admins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490496"/>
            <a:ext cx="1104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Sponsor and affiliate revenue for the prize pot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?</a:t>
            </a:r>
          </a:p>
          <a:p>
            <a:pPr algn="l">
              <a:spcAft>
                <a:spcPts val="0"/>
              </a:spcAft>
            </a:pP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3E415B-1E75-DF93-E057-BE4054575C74}"/>
              </a:ext>
            </a:extLst>
          </p:cNvPr>
          <p:cNvSpPr txBox="1"/>
          <p:nvPr/>
        </p:nvSpPr>
        <p:spPr>
          <a:xfrm>
            <a:off x="647700" y="3890308"/>
            <a:ext cx="10896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 dirty="0">
                <a:solidFill>
                  <a:srgbClr val="CE5AB0"/>
                </a:solidFill>
                <a:latin typeface="Calibri"/>
              </a:rPr>
              <a:t>Q:</a:t>
            </a:r>
            <a:r>
              <a:rPr lang="en-GB" sz="1600" b="0" i="1" dirty="0">
                <a:solidFill>
                  <a:srgbClr val="CE5AB0"/>
                </a:solidFill>
                <a:latin typeface="Calibri"/>
              </a:rPr>
              <a:t> Any other things</a:t>
            </a:r>
            <a:r>
              <a:rPr lang="en-GB" sz="1600" i="1" dirty="0">
                <a:solidFill>
                  <a:srgbClr val="CE5AB0"/>
                </a:solidFill>
                <a:latin typeface="Calibri"/>
              </a:rPr>
              <a:t> to improve?</a:t>
            </a:r>
            <a:endParaRPr sz="1600" b="0" i="1" dirty="0">
              <a:solidFill>
                <a:srgbClr val="CE5AB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C9400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Decisions Needed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CC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Approve the Season 6 division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Confirm enforcement of the weekly fixture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7000"/>
            <a:ext cx="1104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Choose </a:t>
            </a:r>
            <a:r>
              <a:rPr lang="en-GB" sz="1600" b="1" dirty="0">
                <a:solidFill>
                  <a:srgbClr val="14141F"/>
                </a:solidFill>
                <a:latin typeface="Calibri"/>
              </a:rPr>
              <a:t>how prize pool is distributed – any price changes to reduce lazy players?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048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Confirm warning / strike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29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Agree Player of the Month nomination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81000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141F"/>
                </a:solidFill>
                <a:latin typeface="Calibri"/>
              </a:rPr>
              <a:t>Set the Suggestion Box review cadence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22275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Book the next admin meeting date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39E84"/>
                </a:solidFill>
                <a:latin typeface="Calibri"/>
              </a:rPr>
              <a:t>ELITE ARROWS  /  ADMIN MEETING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141F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23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104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Send the Season 6 announcements (updates + respect &amp; conduct)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 – Make sure this is proof read in admin group chat before sent out!</a:t>
            </a:r>
            <a:endParaRPr sz="16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375188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Share the updated Admin Roster alongside this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43775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Trial weekly fixture tracking for two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99375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Review the Suggestion Box once a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6075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Decide the prize split before the end of the season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854450"/>
            <a:ext cx="1104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4141F"/>
                </a:solidFill>
                <a:latin typeface="Calibri"/>
              </a:rPr>
              <a:t>Assign action owners today and capture follow-ups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E44AD-D406-7315-4C6F-5E90C3DF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0199C6-8766-0816-D78A-3E35D8D3FAAB}"/>
              </a:ext>
            </a:extLst>
          </p:cNvPr>
          <p:cNvSpPr txBox="1"/>
          <p:nvPr/>
        </p:nvSpPr>
        <p:spPr>
          <a:xfrm>
            <a:off x="457200" y="5334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dirty="0">
                <a:solidFill>
                  <a:srgbClr val="239E84"/>
                </a:solidFill>
                <a:latin typeface="Calibri"/>
              </a:rPr>
              <a:t>ELITE ARROWS  /  ADMIN MEETING</a:t>
            </a:r>
            <a:endParaRPr lang="en-GB" sz="1100" b="1" i="0" dirty="0">
              <a:solidFill>
                <a:srgbClr val="239E84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en-GB" sz="3000" b="1" dirty="0">
                <a:solidFill>
                  <a:srgbClr val="14141F"/>
                </a:solidFill>
                <a:latin typeface="Calibri"/>
              </a:rPr>
              <a:t>Anything to Add?</a:t>
            </a:r>
            <a:endParaRPr lang="en-GB" sz="3000" b="1" i="0" dirty="0">
              <a:solidFill>
                <a:srgbClr val="14141F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1A2BDF-12FD-EDBE-0A22-4835B587CD49}"/>
              </a:ext>
            </a:extLst>
          </p:cNvPr>
          <p:cNvSpPr/>
          <p:nvPr/>
        </p:nvSpPr>
        <p:spPr>
          <a:xfrm>
            <a:off x="457200" y="1422400"/>
            <a:ext cx="11277600" cy="38100"/>
          </a:xfrm>
          <a:prstGeom prst="rect">
            <a:avLst/>
          </a:prstGeom>
          <a:solidFill>
            <a:srgbClr val="23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44BA5C-EC3F-B053-2E1A-1F764425EE5E}"/>
              </a:ext>
            </a:extLst>
          </p:cNvPr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Elite Arrows - Admin Meeting Deck - Season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A9E744-F8CE-42F9-9A2D-27C854115F24}"/>
              </a:ext>
            </a:extLst>
          </p:cNvPr>
          <p:cNvSpPr txBox="1"/>
          <p:nvPr/>
        </p:nvSpPr>
        <p:spPr>
          <a:xfrm>
            <a:off x="457200" y="82550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C8C99"/>
                </a:solidFill>
                <a:latin typeface="Calibri"/>
              </a:rPr>
              <a:t>Slide 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B19E8-C732-B82B-7E07-D027F9AABB1F}"/>
              </a:ext>
            </a:extLst>
          </p:cNvPr>
          <p:cNvSpPr txBox="1"/>
          <p:nvPr/>
        </p:nvSpPr>
        <p:spPr>
          <a:xfrm>
            <a:off x="457200" y="1663700"/>
            <a:ext cx="11049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In order:</a:t>
            </a:r>
          </a:p>
          <a:p>
            <a:pPr algn="l">
              <a:spcAft>
                <a:spcPts val="0"/>
              </a:spcAft>
            </a:pP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- </a:t>
            </a:r>
            <a:r>
              <a:rPr lang="en-GB" sz="1600" b="1" dirty="0">
                <a:solidFill>
                  <a:srgbClr val="14141F"/>
                </a:solidFill>
                <a:latin typeface="Calibri"/>
              </a:rPr>
              <a:t>David</a:t>
            </a:r>
          </a:p>
          <a:p>
            <a:pPr algn="l">
              <a:spcAft>
                <a:spcPts val="0"/>
              </a:spcAft>
            </a:pPr>
            <a:r>
              <a:rPr lang="en-GB" sz="1600" b="1" dirty="0">
                <a:solidFill>
                  <a:srgbClr val="14141F"/>
                </a:solidFill>
                <a:latin typeface="Calibri"/>
              </a:rPr>
              <a:t>- </a:t>
            </a: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Simon</a:t>
            </a:r>
          </a:p>
          <a:p>
            <a:pPr algn="l">
              <a:spcAft>
                <a:spcPts val="0"/>
              </a:spcAft>
            </a:pPr>
            <a:r>
              <a:rPr lang="en-GB" sz="1600" b="1" dirty="0">
                <a:solidFill>
                  <a:srgbClr val="14141F"/>
                </a:solidFill>
                <a:latin typeface="Calibri"/>
              </a:rPr>
              <a:t>- Lyndsey</a:t>
            </a:r>
          </a:p>
          <a:p>
            <a:pPr algn="l">
              <a:spcAft>
                <a:spcPts val="0"/>
              </a:spcAft>
            </a:pPr>
            <a:r>
              <a:rPr lang="en-GB" sz="1600" b="1" i="0" dirty="0">
                <a:solidFill>
                  <a:srgbClr val="14141F"/>
                </a:solidFill>
                <a:latin typeface="Calibri"/>
              </a:rPr>
              <a:t>- Jay</a:t>
            </a:r>
          </a:p>
          <a:p>
            <a:pPr algn="l">
              <a:spcAft>
                <a:spcPts val="0"/>
              </a:spcAft>
            </a:pPr>
            <a:r>
              <a:rPr lang="en-GB" sz="1600" b="1" dirty="0">
                <a:solidFill>
                  <a:srgbClr val="14141F"/>
                </a:solidFill>
                <a:latin typeface="Calibri"/>
              </a:rPr>
              <a:t>- Brent</a:t>
            </a:r>
          </a:p>
          <a:p>
            <a:pPr algn="l">
              <a:spcAft>
                <a:spcPts val="0"/>
              </a:spcAft>
            </a:pPr>
            <a:r>
              <a:rPr lang="en-GB" sz="1600" b="1" dirty="0">
                <a:solidFill>
                  <a:srgbClr val="14141F"/>
                </a:solidFill>
                <a:latin typeface="Calibri"/>
              </a:rPr>
              <a:t>- </a:t>
            </a:r>
            <a:r>
              <a:rPr lang="en-GB" sz="1600" b="1" dirty="0" err="1">
                <a:solidFill>
                  <a:srgbClr val="14141F"/>
                </a:solidFill>
                <a:latin typeface="Calibri"/>
              </a:rPr>
              <a:t>Kinchy</a:t>
            </a:r>
            <a:endParaRPr lang="en-GB" sz="1600" b="1" dirty="0">
              <a:solidFill>
                <a:srgbClr val="14141F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en-GB" sz="1600" b="1" dirty="0">
                <a:solidFill>
                  <a:srgbClr val="14141F"/>
                </a:solidFill>
                <a:latin typeface="Calibri"/>
              </a:rPr>
              <a:t>Rhys</a:t>
            </a:r>
          </a:p>
        </p:txBody>
      </p:sp>
    </p:spTree>
    <p:extLst>
      <p:ext uri="{BB962C8B-B14F-4D97-AF65-F5344CB8AC3E}">
        <p14:creationId xmlns:p14="http://schemas.microsoft.com/office/powerpoint/2010/main" val="2813057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2124</Words>
  <Application>Microsoft Office PowerPoint</Application>
  <PresentationFormat>Widescreen</PresentationFormat>
  <Paragraphs>278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Rhys Howe</dc:creator>
  <cp:keywords/>
  <dc:description>generated using python-pptx</dc:description>
  <cp:lastModifiedBy>Rhys Howe 2025 (N1371716)</cp:lastModifiedBy>
  <cp:revision>4</cp:revision>
  <dcterms:created xsi:type="dcterms:W3CDTF">2013-01-27T09:14:16Z</dcterms:created>
  <dcterms:modified xsi:type="dcterms:W3CDTF">2026-09-27T15:06:45Z</dcterms:modified>
  <cp:category/>
</cp:coreProperties>
</file>